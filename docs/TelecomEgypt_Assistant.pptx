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constraint shapes everything. It rules out the easy answer and forces every model choice to be defended on footprint and latency, not on leaderboard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 I asked at each boundary was: what breaks if this dies? For speech the answer is 'voice input', not 'the product'. That is a service. For retrieval and intent the answer is 'everything', so they stay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degradation story that is never exercised is a guess. Each row is a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was a bug I found by reading the per-language evaluation split. An overall recall number would have hidden it completely.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Showing the fix is stronger than showing the feature. It is evidence of testing rather than luck.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on this slide came out of scripts/eval_rag.py on the running system, not from a spreadsheet.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 here: a correctly-detected check_bill_balance for someone else's account, refused. An intent can arrive perfectly formed, maximally confident, naming a real account — and it still does not execute unless that session holds the grant.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failure mode I designed against is a caller who forgets to pass the filter. So I removed the ability to forget.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would rather say that than let someone find it by scaling the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Segoe UI"/>
              </a:rPr>
              <a:t>Telecom Egypt — Intelligent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8C8D8"/>
                </a:solidFill>
                <a:latin typeface="Segoe UI"/>
              </a:rPr>
              <a:t>Bilingual voice + text RAG assistant  ·  Arabic, English, Egyptian dialect
Runs fully on-premises — no external API in the serving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8C8C"/>
                </a:solidFill>
                <a:latin typeface="Segoe UI"/>
              </a:rPr>
              <a:t>Proof of concept  ·  case study submission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8C8C"/>
                </a:solidFill>
                <a:latin typeface="Segoe UI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Segoe UI"/>
              </a:rPr>
              <a:t>The problem, stated as constraints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Thousands of daily inquiries in Arabic, English and Egyptian dialect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Voice and text, with noisy real-world audio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Answers grounded in te.eg and cited — a telecom cannot quote a wrong price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Customers upload documents and ask questions about them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No external API in the serving path.  </a:t>
            </a:r>
            <a:r>
              <a:rPr sz="1600">
                <a:solidFill>
                  <a:srgbClr val="1A1A2E"/>
                </a:solidFill>
                <a:latin typeface="Segoe UI"/>
              </a:rPr>
              <a:t>Customer audio and documents stay on-premises.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8C8C"/>
                </a:solidFill>
                <a:latin typeface="Segoe UI"/>
              </a:rPr>
              <a:t>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Segoe UI"/>
              </a:rPr>
              <a:t>What it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Voice or text in — input mode known from the channel, not guessed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Text is ALWAYS displayed.  </a:t>
            </a:r>
            <a:r>
              <a:rPr sz="1600">
                <a:solidFill>
                  <a:srgbClr val="1A1A2E"/>
                </a:solidFill>
                <a:latin typeface="Segoe UI"/>
              </a:rPr>
              <a:t>Voice is additive, never the only output.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Every answer carries citations, and refuses rather than guessing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PDF / DOCX / TXT / image upload, scoped to the session only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Actions (bill lookup, ticket creation) without giving the model DB access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Frustration detection with a defined path to a human agent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8C8C"/>
                </a:solidFill>
                <a:latin typeface="Segoe UI"/>
              </a:rPr>
              <a:t>SYSTEM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Segoe UI"/>
              </a:rPr>
              <a:t>Architecture — three services, and why only three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UI (Gradio, :7860)  </a:t>
            </a:r>
            <a:r>
              <a:rPr sz="1600">
                <a:solidFill>
                  <a:srgbClr val="1A1A2E"/>
                </a:solidFill>
                <a:latin typeface="Segoe UI"/>
              </a:rPr>
              <a:t>thin client, holds no models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CORE (:8000)  </a:t>
            </a:r>
            <a:r>
              <a:rPr sz="1600">
                <a:solidFill>
                  <a:srgbClr val="1A1A2E"/>
                </a:solidFill>
                <a:latin typeface="Segoe UI"/>
              </a:rPr>
              <a:t>guardrails · PII · retrieval · intent · permissions · sessions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SPEECH (:8001)  </a:t>
            </a:r>
            <a:r>
              <a:rPr sz="1600">
                <a:solidFill>
                  <a:srgbClr val="1A1A2E"/>
                </a:solidFill>
                <a:latin typeface="Segoe UI"/>
              </a:rPr>
              <a:t>ASR + TTS — the only component split out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Why speech is separate:  </a:t>
            </a:r>
            <a:r>
              <a:rPr sz="1600">
                <a:solidFill>
                  <a:srgbClr val="1A1A2E"/>
                </a:solidFill>
                <a:latin typeface="Segoe UI"/>
              </a:rPr>
              <a:t>heaviest models, slowest cold start, highest OOM risk — and voice is optional to the product, text chat is not.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Why nothing else is:  </a:t>
            </a:r>
            <a:r>
              <a:rPr sz="1600">
                <a:solidFill>
                  <a:srgbClr val="1A1A2E"/>
                </a:solidFill>
                <a:latin typeface="Segoe UI"/>
              </a:rPr>
              <a:t>retrieval, intent and sessions share the session store and vector index. Splitting them adds network hops and buys nothing.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Segoe UI"/>
              </a:rPr>
              <a:t>The degradation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66"/>
                </a:solidFill>
                <a:latin typeface="Segoe UI"/>
              </a:rPr>
              <a:t>Demonstrable in one command:  docker compose stop speech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0020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04088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>
                    <a:solidFill>
                      <a:srgbClr val="6B2D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6B2D8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Speech service 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Mic hidden — text chat unaffected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LLM unavailable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Retrieval still returns cited passages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Reranker unavailable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Falls back to RRF ordering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TTS fails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Text answer still delivered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8C8C"/>
                </a:solidFill>
                <a:latin typeface="Segoe UI"/>
              </a:rPr>
              <a:t>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Segoe UI"/>
              </a:rPr>
              <a:t>Data flow — one voice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mic → VAD → ASR → hallucination filter → confidence gate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→ input guardrails → PII masking → session resolve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→ hybrid retrieve (BM25 + dense → RRF) → rerank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→ intent detection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       ├── action?  → permission check → backend executes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       └── else     → grounded generation + citations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→ output guardrail → unmask for display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→ frustration score → structured turn record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→ text + citations shown, spoken answer added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8C8C"/>
                </a:solidFill>
                <a:latin typeface="Segoe UI"/>
              </a:rPr>
              <a:t>PILLAR 1 — DATA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Segoe UI"/>
              </a:rPr>
              <a:t>Data quality — where retrieval is actually 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te.eg is a Liferay portal:  </a:t>
            </a:r>
            <a:r>
              <a:rPr sz="1600">
                <a:solidFill>
                  <a:srgbClr val="1A1A2E"/>
                </a:solidFill>
                <a:latin typeface="Segoe UI"/>
              </a:rPr>
              <a:t>the same ~2–3k character menu on every page — about a third of a typical page.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Leave it in and every chunk shares most of its tokens with every other chunk: dense similarity rises between unrelated pages and stops discriminating. BM25 degrades too — the menu vocabulary is exactly what users search for.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Fix — corpus-level, not per-page:  </a:t>
            </a:r>
            <a:r>
              <a:rPr sz="1600">
                <a:solidFill>
                  <a:srgbClr val="1A1A2E"/>
                </a:solidFill>
                <a:latin typeface="Segoe UI"/>
              </a:rPr>
              <a:t>any line on &gt;35% of pages is template furniture, whatever the markup says.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Tables preserved as Markdown:  </a:t>
            </a:r>
            <a:r>
              <a:rPr sz="1600">
                <a:solidFill>
                  <a:srgbClr val="1A1A2E"/>
                </a:solidFill>
                <a:latin typeface="Segoe UI"/>
              </a:rPr>
              <a:t>'Nitro 200 | 300 EGP | 200 GB' flattened is a number with no label, and the model quotes the wrong price.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Segoe UI"/>
              </a:rPr>
              <a:t>Corpus, after cleaning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66"/>
                </a:solidFill>
                <a:latin typeface="Segoe UI"/>
              </a:rPr>
              <a:t>The press-release listing alone was 183k characters — excluded, and any single document capped at 40k.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2514600" cy="1737360"/>
          </a:xfrm>
          <a:prstGeom prst="round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6B2D8B"/>
                </a:solidFill>
                <a:latin typeface="Segoe UI"/>
              </a:rPr>
              <a:t>600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66"/>
                </a:solidFill>
                <a:latin typeface="Segoe UI"/>
              </a:rPr>
              <a:t>pages crawled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514600" cy="1737360"/>
          </a:xfrm>
          <a:prstGeom prst="round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196596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6B2D8B"/>
                </a:solidFill>
                <a:latin typeface="Segoe UI"/>
              </a:rPr>
              <a:t>388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834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66"/>
                </a:solidFill>
                <a:latin typeface="Segoe UI"/>
              </a:rPr>
              <a:t>documents kept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37360"/>
            <a:ext cx="2514600" cy="1737360"/>
          </a:xfrm>
          <a:prstGeom prst="round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96596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6B2D8B"/>
                </a:solidFill>
                <a:latin typeface="Segoe UI"/>
              </a:rPr>
              <a:t>681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834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66"/>
                </a:solidFill>
                <a:latin typeface="Segoe UI"/>
              </a:rPr>
              <a:t>indexed chunks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737360"/>
            <a:ext cx="2514600" cy="1737360"/>
          </a:xfrm>
          <a:prstGeom prst="round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196596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6B2D8B"/>
                </a:solidFill>
                <a:latin typeface="Segoe UI"/>
              </a:rPr>
              <a:t>21%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834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66"/>
                </a:solidFill>
                <a:latin typeface="Segoe UI"/>
              </a:rPr>
              <a:t>was one page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Segoe UI"/>
              </a:rPr>
              <a:t>A bilingual corpus, not an Arabic one queried in English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881360" cy="1737360"/>
          </a:xfrm>
          <a:prstGeom prst="round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B2D8B"/>
                </a:solidFill>
                <a:latin typeface="Segoe UI"/>
              </a:rPr>
              <a:t>English documents: 33 → 183.    English recall@5: poor → 90%.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65760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The first crawl was 85% Arabic.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te.eg serves English under separate /en/ URLs that Arabic-seeded link-following never reaches.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The lesson:  </a:t>
            </a:r>
            <a:r>
              <a:rPr sz="1600">
                <a:solidFill>
                  <a:srgbClr val="1A1A2E"/>
                </a:solidFill>
                <a:latin typeface="Segoe UI"/>
              </a:rPr>
              <a:t>the case study asks for bilingual output. That has to mean a bilingual corpus — not leaving the embedder to bridge the gap alone.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8C8C"/>
                </a:solidFill>
                <a:latin typeface="Segoe UI"/>
              </a:rPr>
              <a:t>PILLAR 1 — DATA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Segoe UI"/>
              </a:rPr>
              <a:t>Arabic normalisation and light stemming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BM25 is lexical:  </a:t>
            </a:r>
            <a:r>
              <a:rPr sz="1600">
                <a:solidFill>
                  <a:srgbClr val="1A1A2E"/>
                </a:solidFill>
                <a:latin typeface="Segoe UI"/>
              </a:rPr>
              <a:t>«إنترنت» and «انترنت» are different terms to it.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Arabic is agglutinative:  </a:t>
            </a:r>
            <a:r>
              <a:rPr sz="1600">
                <a:solidFill>
                  <a:srgbClr val="1A1A2E"/>
                </a:solidFill>
                <a:latin typeface="Segoe UI"/>
              </a:rPr>
              <a:t>untreated, «أشحن» / «شحن» / «الشحن» are three unrelated terms — so a naturally-phrased question misses the page that answers it.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And a bug worth admitting:  </a:t>
            </a:r>
            <a:r>
              <a:rPr sz="1600">
                <a:solidFill>
                  <a:srgbClr val="1A1A2E"/>
                </a:solidFill>
                <a:latin typeface="Segoe UI"/>
              </a:rPr>
              <a:t>the first stemmer also stripped single-letter prefixes, which ate the first root letter — «باقات» → «قات» but «باقة» → «اقه». The plural and singular of the word this corpus is most asked about stopped matching.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Now:  </a:t>
            </a:r>
            <a:r>
              <a:rPr sz="1600">
                <a:solidFill>
                  <a:srgbClr val="1A1A2E"/>
                </a:solidFill>
                <a:latin typeface="Segoe UI"/>
              </a:rPr>
              <a:t>multi-character article forms only. 11/11 conflation cases pass.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Segoe UI"/>
              </a:rPr>
              <a:t>Hybrid retrieval — two failure modes, two retrievers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66"/>
                </a:solidFill>
                <a:latin typeface="Segoe UI"/>
              </a:rPr>
              <a:t>Fused with Reciprocal Rank Fusion, not a weighted sum: the two scores are not on comparable scales and per-query normalisation is fragile. RRF only needs the ranks.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00200"/>
          <a:ext cx="108813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13816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Retriever</a:t>
                      </a:r>
                    </a:p>
                  </a:txBody>
                  <a:tcPr>
                    <a:solidFill>
                      <a:srgbClr val="6B2D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Fails at</a:t>
                      </a:r>
                    </a:p>
                  </a:txBody>
                  <a:tcPr>
                    <a:solidFill>
                      <a:srgbClr val="6B2D8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Dense alone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Exact identifiers — 'Nitro 200' retrieves 'Nitro 100'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BM25 alone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Cross-lingual — «عايز أعرف أسعار النت» has zero lexical overlap with an English tariff page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Segoe UI"/>
              </a:rPr>
              <a:t>Measured retrieval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66"/>
                </a:solidFill>
                <a:latin typeface="Segoe UI"/>
              </a:rPr>
              <a:t>cpu-lite profile · 38-question bilingual golden set · 681 chunks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2514600" cy="1737360"/>
          </a:xfrm>
          <a:prstGeom prst="round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6B2D8B"/>
                </a:solidFill>
                <a:latin typeface="Segoe UI"/>
              </a:rPr>
              <a:t>81.6%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66"/>
                </a:solidFill>
                <a:latin typeface="Segoe UI"/>
              </a:rPr>
              <a:t>recall@5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514600" cy="1737360"/>
          </a:xfrm>
          <a:prstGeom prst="round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196596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6B2D8B"/>
                </a:solidFill>
                <a:latin typeface="Segoe UI"/>
              </a:rPr>
              <a:t>0.759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834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66"/>
                </a:solidFill>
                <a:latin typeface="Segoe UI"/>
              </a:rPr>
              <a:t>MRR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37360"/>
            <a:ext cx="2514600" cy="1737360"/>
          </a:xfrm>
          <a:prstGeom prst="round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96596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6B2D8B"/>
                </a:solidFill>
                <a:latin typeface="Segoe UI"/>
              </a:rPr>
              <a:t>18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834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66"/>
                </a:solidFill>
                <a:latin typeface="Segoe UI"/>
              </a:rPr>
              <a:t>median latency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737360"/>
            <a:ext cx="2514600" cy="1737360"/>
          </a:xfrm>
          <a:prstGeom prst="round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196596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6B2D8B"/>
                </a:solidFill>
                <a:latin typeface="Segoe UI"/>
              </a:rPr>
              <a:t>126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834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66"/>
                </a:solidFill>
                <a:latin typeface="Segoe UI"/>
              </a:rPr>
              <a:t>tests passing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Segoe UI"/>
              </a:rPr>
              <a:t>Reported split by query language — on purpose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66"/>
                </a:solidFill>
                <a:latin typeface="Segoe UI"/>
              </a:rPr>
              <a:t>An overall figure that hid 'English retrieves nothing' would be misleading. Dialect is the weakest — I come back to why.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0020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463040"/>
                <a:gridCol w="2377440"/>
                <a:gridCol w="246888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Query language</a:t>
                      </a:r>
                    </a:p>
                  </a:txBody>
                  <a:tcPr>
                    <a:solidFill>
                      <a:srgbClr val="6B2D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6B2D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recall@5</a:t>
                      </a:r>
                    </a:p>
                  </a:txBody>
                  <a:tcPr>
                    <a:solidFill>
                      <a:srgbClr val="6B2D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MRR</a:t>
                      </a:r>
                    </a:p>
                  </a:txBody>
                  <a:tcPr>
                    <a:solidFill>
                      <a:srgbClr val="6B2D8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English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90.0%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0.833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Code-switched (AR/EN)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100.0%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0.800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MSA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75.0%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0.688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Egyptian dialect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73.3%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0.733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8C8C"/>
                </a:solidFill>
                <a:latin typeface="Segoe UI"/>
              </a:rPr>
              <a:t>ASR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Segoe UI"/>
              </a:rPr>
              <a:t>ASR — built for noisy dialect, not a Whisper wrapper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VAD before transcription:  </a:t>
            </a:r>
            <a:r>
              <a:rPr sz="1600">
                <a:solidFill>
                  <a:srgbClr val="1A1A2E"/>
                </a:solidFill>
                <a:latin typeface="Segoe UI"/>
              </a:rPr>
              <a:t>Whisper's failure on silence is not silence — it is a confident sentence learned from subtitle corpora.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Egyptian-dialect initial_prompt:  </a:t>
            </a:r>
            <a:r>
              <a:rPr sz="1600">
                <a:solidFill>
                  <a:srgbClr val="1A1A2E"/>
                </a:solidFill>
                <a:latin typeface="Segoe UI"/>
              </a:rPr>
              <a:t>Whisper drifts to MSA because MSA dominates its Arabic training data.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Hallucination filters:  </a:t>
            </a:r>
            <a:r>
              <a:rPr sz="1600">
                <a:solidFill>
                  <a:srgbClr val="1A1A2E"/>
                </a:solidFill>
                <a:latin typeface="Segoe UI"/>
              </a:rPr>
              <a:t>known artifacts («ترجمة نانسي قنقر», 'Thank you for watching') plus a repetition-loop detector.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Confidence gate:  </a:t>
            </a:r>
            <a:r>
              <a:rPr sz="1600">
                <a:solidFill>
                  <a:srgbClr val="1A1A2E"/>
                </a:solidFill>
                <a:latin typeface="Segoe UI"/>
              </a:rPr>
              <a:t>ask the user to repeat rather than answer a misheard question.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Never task='translate'.  </a:t>
            </a:r>
            <a:r>
              <a:rPr sz="1600">
                <a:solidFill>
                  <a:srgbClr val="1A1A2E"/>
                </a:solidFill>
                <a:latin typeface="Segoe UI"/>
              </a:rPr>
              <a:t>Pivoting dialect through English discards exactly what the case study is testing.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Segoe UI"/>
              </a:rPr>
              <a:t>Security — the architectural claim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881360" cy="1737360"/>
          </a:xfrm>
          <a:prstGeom prst="round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B2D8B"/>
                </a:solidFill>
                <a:latin typeface="Segoe UI"/>
              </a:rPr>
              <a:t>The model's output carries no authority.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65760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1. input guardrails → before the model sees anything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2. PII masking → the model never sees raw sensitive values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3. intent detection → the model's ONLY job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4. permission check → the backend decides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5. execution → the backend acts, never the model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Steps 1 and 2 cannot be reordered:  </a:t>
            </a:r>
            <a:r>
              <a:rPr sz="1600">
                <a:solidFill>
                  <a:srgbClr val="1A1A2E"/>
                </a:solidFill>
                <a:latin typeface="Segoe UI"/>
              </a:rPr>
              <a:t>masking first feeds an injection string to the masker; guarding after the model defeats the point.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8C8C"/>
                </a:solidFill>
                <a:latin typeface="Segoe UI"/>
              </a:rP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Segoe UI"/>
              </a:rPr>
              <a:t>Security, evidenced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Two real action intents  </a:t>
            </a:r>
            <a:r>
              <a:rPr sz="1600">
                <a:solidFill>
                  <a:srgbClr val="1A1A2E"/>
                </a:solidFill>
                <a:latin typeface="Segoe UI"/>
              </a:rPr>
              <a:t>over SQLite: check_bill_balance (read), create_support_ticket (write)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PII by regex with a Luhn check  </a:t>
            </a:r>
            <a:r>
              <a:rPr sz="1600">
                <a:solidFill>
                  <a:srgbClr val="1A1A2E"/>
                </a:solidFill>
                <a:latin typeface="Segoe UI"/>
              </a:rPr>
              <a:t>— so an order reference is not masked as a card. Over-masking removes information the model needs.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Every refusal audited.  </a:t>
            </a:r>
            <a:r>
              <a:rPr sz="1600">
                <a:solidFill>
                  <a:srgbClr val="1A1A2E"/>
                </a:solidFill>
                <a:latin typeface="Segoe UI"/>
              </a:rPr>
              <a:t>An audit log that only records successes cannot answer 'did anyone try?'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Tests assert the NEGATIVE cases:  </a:t>
            </a:r>
            <a:r>
              <a:rPr sz="1600">
                <a:solidFill>
                  <a:srgbClr val="1A1A2E"/>
                </a:solidFill>
                <a:latin typeface="Segoe UI"/>
              </a:rPr>
              <a:t>injection blocked, PII never reaching the model, unauthorised action refused, cross-session retrieval impossible.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Honest limit:  </a:t>
            </a:r>
            <a:r>
              <a:rPr sz="1600">
                <a:solidFill>
                  <a:srgbClr val="1A1A2E"/>
                </a:solidFill>
                <a:latin typeface="Segoe UI"/>
              </a:rPr>
              <a:t>guardrails are pattern-based. They stop scripted attempts, not a determined adversary. The architecture does not rely on them — the model has no database access regardless.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Segoe UI"/>
              </a:rPr>
              <a:t>Session isolation under concurrent users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881360" cy="1737360"/>
          </a:xfrm>
          <a:prstGeom prst="round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B2D8B"/>
                </a:solidFill>
                <a:latin typeface="Segoe UI"/>
              </a:rPr>
              <a:t>There is deliberately no code path that reaches session documents without a filter.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65760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Unguessable IDs  </a:t>
            </a:r>
            <a:r>
              <a:rPr sz="1600">
                <a:solidFill>
                  <a:srgbClr val="1A1A2E"/>
                </a:solidFill>
                <a:latin typeface="Segoe UI"/>
              </a:rPr>
              <a:t>(secrets.token_urlsafe(32), 256 bits) stop guessing — but that is not the isolation property.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Mandatory filtering in the store  </a:t>
            </a:r>
            <a:r>
              <a:rPr sz="1600">
                <a:solidFill>
                  <a:srgbClr val="1A1A2E"/>
                </a:solidFill>
                <a:latin typeface="Segoe UI"/>
              </a:rPr>
              <a:t>is what actually isolates. Default with no filter is ZERO documents, never all.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Eviction is real:  </a:t>
            </a:r>
            <a:r>
              <a:rPr sz="1600">
                <a:solidFill>
                  <a:srgbClr val="1A1A2E"/>
                </a:solidFill>
                <a:latin typeface="Segoe UI"/>
              </a:rPr>
              <a:t>files and embeddings are both deleted at session end.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Segoe UI"/>
              </a:rPr>
              <a:t>On-premises deployment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23444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Concern</a:t>
                      </a:r>
                    </a:p>
                  </a:txBody>
                  <a:tcPr>
                    <a:solidFill>
                      <a:srgbClr val="6B2D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Approach</a:t>
                      </a:r>
                    </a:p>
                  </a:txBody>
                  <a:tcPr>
                    <a:solidFill>
                      <a:srgbClr val="6B2D8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Footprint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Torch-free CPU profile: CTranslate2 + ONNX + llama.cpp → ~1.5 GB, not 4.5 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Portability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Two profiles, one codebase — device detection, never a fork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Air-gapped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uv pip download + fetch_models.py → nothing touches the network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Containers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Docker: 3 services, one image, weights as a volume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Reproducible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pyproject.toml + committed uv.lock (186 packages)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Segoe UI"/>
              </a:rPr>
              <a:t>A licensing finding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881360" cy="1737360"/>
          </a:xfrm>
          <a:prstGeom prst="round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  <a:latin typeface="Segoe UI"/>
              </a:rPr>
              <a:t>jina-embeddings-v3 is CC-BY-NC-4.0. Non-commercial.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65760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It is the strongest multilingual embedder in the shortlist.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Same for jina-reranker-v2 and f5-tts-egyptian-arabic.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Replaced with BAAI/bge-m3 (MIT)  </a:t>
            </a:r>
            <a:r>
              <a:rPr sz="1600">
                <a:solidFill>
                  <a:srgbClr val="1A1A2E"/>
                </a:solidFill>
                <a:latin typeface="Segoe UI"/>
              </a:rPr>
              <a:t>— which also has ~20× the adoption. Zero cost to switch.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Licence is a hard filter,  </a:t>
            </a:r>
            <a:r>
              <a:rPr sz="1600">
                <a:solidFill>
                  <a:srgbClr val="1A1A2E"/>
                </a:solidFill>
                <a:latin typeface="Segoe UI"/>
              </a:rPr>
              <a:t>checked before quality. A non-commercial model in a customer-facing telecom assistant fails review for reasons that have nothing to do with benchmark scores.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8C8C"/>
                </a:solidFill>
                <a:latin typeface="Segoe UI"/>
              </a:rP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Segoe UI"/>
              </a:rPr>
              <a:t>What I did not take on trust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1737360"/>
          </a:xfrm>
          <a:prstGeom prst="round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B2D8B"/>
                </a:solidFill>
                <a:latin typeface="Segoe UI"/>
              </a:rPr>
              <a:t>Nawah-ASR-118M claims WER 0.3358 vs Whisper large-v3's 0.4149.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5760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43 downloads/month, 2 likes.  </a:t>
            </a:r>
            <a:r>
              <a:rPr sz="1600">
                <a:solidFill>
                  <a:srgbClr val="1A1A2E"/>
                </a:solidFill>
                <a:latin typeface="Segoe UI"/>
              </a:rPr>
              <a:t>The WER is self-reported on the author's own eval set.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Not Whisper-architecture  </a:t>
            </a:r>
            <a:r>
              <a:rPr sz="1600">
                <a:solidFill>
                  <a:srgbClr val="1A1A2E"/>
                </a:solidFill>
                <a:latin typeface="Segoe UI"/>
              </a:rPr>
              <a:t>→ needs torch → cannot run under CTranslate2, so it is out of the torch-free CPU profile on engineering grounds before quality is even discussed.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Decision:  </a:t>
            </a:r>
            <a:r>
              <a:rPr sz="1600">
                <a:solidFill>
                  <a:srgbClr val="1A1A2E"/>
                </a:solidFill>
                <a:latin typeface="Segoe UI"/>
              </a:rPr>
              <a:t>every model slot is pluggable, well-adopted defaults ship, and the Egyptian candidates get measured — converting an unverified claim into an evaluation result instead of a gamble on the critical path.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8C8C"/>
                </a:solidFill>
                <a:latin typeface="Segoe UI"/>
              </a:rPr>
              <a:t>PILLAR 5 — SCALABILITY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Segoe UI"/>
              </a:rPr>
              <a:t>Scalability — what is built, and what is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Built:  </a:t>
            </a:r>
            <a:r>
              <a:rPr sz="1600">
                <a:solidFill>
                  <a:srgbClr val="1A1A2E"/>
                </a:solidFill>
                <a:latin typeface="Segoe UI"/>
              </a:rPr>
              <a:t>stateless request handling · singleton model loading · serialised llama.cpp access · WAL SQLite for concurrent readers · session TTL and eviction · lazy model loading for the 16 GB VRAM ceiling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1A2E"/>
                </a:solidFill>
                <a:latin typeface="Segoe U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6B2D8B"/>
                </a:solidFill>
                <a:latin typeface="Segoe UI"/>
              </a:rPr>
              <a:t>Honest limit — the session store is in-process.  </a:t>
            </a:r>
            <a:r>
              <a:rPr sz="1600">
                <a:solidFill>
                  <a:srgbClr val="1A1A2E"/>
                </a:solidFill>
                <a:latin typeface="Segoe UI"/>
              </a:rPr>
              <a:t>A second core replica would break session affinity today. The interface is narrow enough that Redis is a one-file swap, but horizontal scaling is currently a design property, not a demonstrated one.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Segoe UI"/>
              </a:rPr>
              <a:t>Future work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23444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30936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Next</a:t>
                      </a:r>
                    </a:p>
                  </a:txBody>
                  <a:tcPr>
                    <a:solidFill>
                      <a:srgbClr val="6B2D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Why not now</a:t>
                      </a:r>
                    </a:p>
                  </a:txBody>
                  <a:tcPr>
                    <a:solidFill>
                      <a:srgbClr val="6B2D8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BGE-M3 on GPU profile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Should close much of the 73% dialect gap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Redis-backed sessions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Makes horizontal scaling real rather than claimed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Cross-encoder reranking on CPU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Several seconds on 4 cores — blows the latency budget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LoRA fine-tune on telecom QA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Real, but not a POC-scale task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Langfuse / LangSmith tracing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Needs a server; JSONL tracing for 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Per-document authentication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Deliberately deferred — no login in the POC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Visual retrieval without OCR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Needs a second embedding space and a VLM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Streaming WebSocket ASR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</a:rPr>
                        <a:t>Latency win, but not required for the demo</a:t>
                      </a:r>
                    </a:p>
                  </a:txBody>
                  <a:tcPr>
                    <a:solidFill>
                      <a:srgbClr val="F4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8C8D8"/>
                </a:solidFill>
                <a:latin typeface="Segoe UI"/>
              </a:rPr>
              <a:t>The core runs offline on a CPU.  Every answer is cited.
The model detects intent and nothing else — the backend decides what happens.
And the numbers in this deck came out of /metrics on the running system.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8C8C"/>
                </a:solidFill>
                <a:latin typeface="Segoe UI"/>
              </a:rPr>
              <a:t>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